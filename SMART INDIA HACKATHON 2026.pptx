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016" y="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SIH26111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dirty="0">
                <a:latin typeface="+mn-lt"/>
              </a:rPr>
              <a:t>Agriculture, </a:t>
            </a:r>
            <a:r>
              <a:rPr lang="en-IN" dirty="0" err="1">
                <a:latin typeface="+mn-lt"/>
              </a:rPr>
              <a:t>FoodTech</a:t>
            </a:r>
            <a:r>
              <a:rPr lang="en-IN" dirty="0">
                <a:latin typeface="+mn-lt"/>
              </a:rPr>
              <a:t> &amp; Rural Development</a:t>
            </a:r>
            <a:endParaRPr lang="en-US" dirty="0">
              <a:latin typeface="+mn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Team B-127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Team </a:t>
            </a:r>
          </a:p>
          <a:p>
            <a:pPr algn="ctr"/>
            <a:r>
              <a:rPr lang="en-US" dirty="0"/>
              <a:t>B-127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49ADA2-CCEF-FE4C-825A-791F798CAEB7}"/>
              </a:ext>
            </a:extLst>
          </p:cNvPr>
          <p:cNvSpPr txBox="1"/>
          <p:nvPr/>
        </p:nvSpPr>
        <p:spPr>
          <a:xfrm>
            <a:off x="329773" y="972307"/>
            <a:ext cx="11565894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Smart AI-Enabled Rapid Feed and Silage Quality Testing System for Dairy Farmers </a:t>
            </a:r>
          </a:p>
          <a:p>
            <a:endParaRPr lang="en-IN" sz="2000" b="1" dirty="0">
              <a:solidFill>
                <a:schemeClr val="accent6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r>
              <a:rPr lang="en-IN" b="1" dirty="0">
                <a:latin typeface="Lucida Sans" panose="020B0602030504020204" pitchFamily="34" charset="0"/>
              </a:rPr>
              <a:t> </a:t>
            </a:r>
            <a:r>
              <a:rPr lang="en-US" b="1" dirty="0">
                <a:latin typeface="Lucida Sans" panose="020B0602030504020204" pitchFamily="34" charset="0"/>
              </a:rPr>
              <a:t>1. Proposed Solution &amp; Problem Addressing</a:t>
            </a:r>
          </a:p>
          <a:p>
            <a:r>
              <a:rPr lang="en-US" b="1" dirty="0">
                <a:latin typeface="Lucida Sans" panose="020B0602030504020204" pitchFamily="34" charset="0"/>
              </a:rPr>
              <a:t>AI-powered web application that analyzes feed/silage images and farmer-entered test data to estimate quality indicators and detect potential contamination risks.</a:t>
            </a:r>
          </a:p>
          <a:p>
            <a:r>
              <a:rPr lang="en-US" b="1" dirty="0">
                <a:latin typeface="Lucida Sans" panose="020B0602030504020204" pitchFamily="34" charset="0"/>
              </a:rPr>
              <a:t>Provides instant multilingual nutritional guidance, storage alerts, and feed recommendations, even in offline mode</a:t>
            </a:r>
            <a:r>
              <a:rPr lang="en-US" sz="2000" b="1" dirty="0">
                <a:latin typeface="Lucida Sans" panose="020B0602030504020204" pitchFamily="34" charset="0"/>
              </a:rPr>
              <a:t>.</a:t>
            </a:r>
          </a:p>
          <a:p>
            <a:endParaRPr lang="en-US" sz="2000" b="1" dirty="0">
              <a:latin typeface="Lucida Sans" panose="020B0602030504020204" pitchFamily="34" charset="0"/>
            </a:endParaRPr>
          </a:p>
          <a:p>
            <a:r>
              <a:rPr lang="en-US" sz="2000" b="1" dirty="0">
                <a:latin typeface="Lucida Sans" panose="020B0602030504020204" pitchFamily="34" charset="0"/>
              </a:rPr>
              <a:t>2</a:t>
            </a:r>
            <a:r>
              <a:rPr lang="en-US" b="1" dirty="0">
                <a:latin typeface="Lucida Sans" panose="020B0602030504020204" pitchFamily="34" charset="0"/>
              </a:rPr>
              <a:t>. Innovation &amp; Uniqueness</a:t>
            </a:r>
          </a:p>
          <a:p>
            <a:r>
              <a:rPr lang="en-US" b="1" dirty="0">
                <a:latin typeface="Lucida Sans" panose="020B0602030504020204" pitchFamily="34" charset="0"/>
              </a:rPr>
              <a:t>AI-based feed quality prediction + farmer-friendly advisory system with historical records and QR-based feed traceability.</a:t>
            </a:r>
          </a:p>
          <a:p>
            <a:r>
              <a:rPr lang="en-US" b="1" dirty="0">
                <a:latin typeface="Lucida Sans" panose="020B0602030504020204" pitchFamily="34" charset="0"/>
              </a:rPr>
              <a:t>Low-cost, software-only solution designed for rural farmers without expensive laboratory equipment, NIR spectroscopy, or IoT devices.</a:t>
            </a:r>
            <a:endParaRPr lang="en-IN" b="1" dirty="0"/>
          </a:p>
          <a:p>
            <a:endParaRPr lang="en-IN" b="1" dirty="0"/>
          </a:p>
          <a:p>
            <a:endParaRPr lang="en-IN" sz="2400" b="1" dirty="0">
              <a:solidFill>
                <a:schemeClr val="accent1"/>
              </a:solidFill>
            </a:endParaRPr>
          </a:p>
          <a:p>
            <a:endParaRPr lang="en-IN" sz="2400" b="1" dirty="0">
              <a:solidFill>
                <a:schemeClr val="accent1"/>
              </a:solidFill>
            </a:endParaRPr>
          </a:p>
          <a:p>
            <a:endParaRPr lang="en-IN" sz="2400" b="1" dirty="0">
              <a:solidFill>
                <a:schemeClr val="accent1"/>
              </a:solidFill>
            </a:endParaRPr>
          </a:p>
          <a:p>
            <a:endParaRPr lang="en-IN" sz="2400" b="1" dirty="0">
              <a:solidFill>
                <a:schemeClr val="accent1"/>
              </a:solidFill>
            </a:endParaRPr>
          </a:p>
          <a:p>
            <a:endParaRPr lang="en-IN" sz="2400" b="1" dirty="0">
              <a:solidFill>
                <a:schemeClr val="accent1"/>
              </a:solidFill>
            </a:endParaRPr>
          </a:p>
          <a:p>
            <a:endParaRPr lang="en-IN" sz="2400" b="1" dirty="0">
              <a:solidFill>
                <a:schemeClr val="accent1"/>
              </a:solidFill>
            </a:endParaRPr>
          </a:p>
          <a:p>
            <a:endParaRPr lang="en-IN" sz="2400" b="1" dirty="0">
              <a:solidFill>
                <a:schemeClr val="accent1"/>
              </a:solidFill>
            </a:endParaRPr>
          </a:p>
          <a:p>
            <a:endParaRPr lang="en-IN" sz="2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Team </a:t>
            </a:r>
          </a:p>
          <a:p>
            <a:pPr algn="ctr"/>
            <a:r>
              <a:rPr lang="en-US" dirty="0"/>
              <a:t>B-127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5C3BEA-4B10-116A-B5C6-01F74DFB3DFB}"/>
              </a:ext>
            </a:extLst>
          </p:cNvPr>
          <p:cNvSpPr txBox="1"/>
          <p:nvPr/>
        </p:nvSpPr>
        <p:spPr>
          <a:xfrm>
            <a:off x="318890" y="1144500"/>
            <a:ext cx="1219199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Technologies Used:</a:t>
            </a:r>
          </a:p>
          <a:p>
            <a:r>
              <a:rPr lang="en-IN" dirty="0"/>
              <a:t>Frontend: React.js, Tailwind CSS</a:t>
            </a:r>
          </a:p>
          <a:p>
            <a:r>
              <a:rPr lang="en-IN" dirty="0"/>
              <a:t>Backend: Python, </a:t>
            </a:r>
            <a:r>
              <a:rPr lang="en-IN" dirty="0" err="1"/>
              <a:t>FastAPI</a:t>
            </a:r>
            <a:endParaRPr lang="en-IN" dirty="0"/>
          </a:p>
          <a:p>
            <a:r>
              <a:rPr lang="en-IN" dirty="0"/>
              <a:t>AI/ML: Python, TensorFlow / Machine Learning, Computer Vision</a:t>
            </a:r>
          </a:p>
          <a:p>
            <a:r>
              <a:rPr lang="en-IN" dirty="0"/>
              <a:t>Database: Firebase / PostgreSQL</a:t>
            </a:r>
          </a:p>
          <a:p>
            <a:r>
              <a:rPr lang="en-IN" dirty="0"/>
              <a:t>Deployment: </a:t>
            </a:r>
            <a:r>
              <a:rPr lang="en-IN" dirty="0" err="1"/>
              <a:t>Vercel</a:t>
            </a:r>
            <a:r>
              <a:rPr lang="en-IN" dirty="0"/>
              <a:t> (Frontend), Render (Backend)</a:t>
            </a:r>
          </a:p>
          <a:p>
            <a:r>
              <a:rPr lang="en-IN" dirty="0"/>
              <a:t>Implementation Process:</a:t>
            </a:r>
          </a:p>
          <a:p>
            <a:r>
              <a:rPr lang="en-IN" dirty="0"/>
              <a:t>1. Farmer uploads a feed/silage image and enters basic test details.</a:t>
            </a:r>
          </a:p>
          <a:p>
            <a:r>
              <a:rPr lang="en-IN" dirty="0"/>
              <a:t>2. AI model </a:t>
            </a:r>
            <a:r>
              <a:rPr lang="en-IN" dirty="0" err="1"/>
              <a:t>analyzes</a:t>
            </a:r>
            <a:r>
              <a:rPr lang="en-IN" dirty="0"/>
              <a:t> visual characteristics and predicts potential quality risks.</a:t>
            </a:r>
          </a:p>
          <a:p>
            <a:r>
              <a:rPr lang="en-IN" dirty="0"/>
              <a:t>3. Backend processes data and generates nutritional and storage advisories.</a:t>
            </a:r>
          </a:p>
          <a:p>
            <a:r>
              <a:rPr lang="en-IN" dirty="0"/>
              <a:t>4. Results are displayed in a multilingual dashboard with history and offline support</a:t>
            </a:r>
          </a:p>
          <a:p>
            <a:r>
              <a:rPr lang="en-IN" dirty="0"/>
              <a:t>Flowchart (PPT): Farmer → Upload Image + Enter Data → AI Analysis → Quality Risk Prediction → Advisory → Dashboard</a:t>
            </a:r>
          </a:p>
          <a:p>
            <a:r>
              <a:rPr lang="en-IN" dirty="0"/>
              <a:t>Prototype: React-based web application with AI analysis, farmer dashboard, advisory system, and quality history.</a:t>
            </a:r>
          </a:p>
          <a:p>
            <a:r>
              <a:rPr lang="en-IN" dirty="0"/>
              <a:t>with AI analysis, farmer dashboard, advisory system, and quality history.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22AAEA-F5A2-CBC4-D385-2413398F4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600" y="1874786"/>
            <a:ext cx="3352800" cy="13933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231323-77B9-160C-B40C-A47E6A626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221" y="1114425"/>
            <a:ext cx="1940379" cy="8137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674812-7265-AB25-BFA0-576BCA494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7600" y="3181072"/>
            <a:ext cx="3116036" cy="11732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9EC32B-D747-71F8-5553-1B028FA807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2137265"/>
            <a:ext cx="2108200" cy="9072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04F162-DC1A-094F-92DE-AF1E5C9C79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421" y="743893"/>
            <a:ext cx="2536371" cy="13933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01AE88-0DE8-387F-C676-ED12F7B3DA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0474" y="995983"/>
            <a:ext cx="3352799" cy="8788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</a:t>
            </a:r>
          </a:p>
          <a:p>
            <a:pPr algn="ctr"/>
            <a:r>
              <a:rPr lang="en-US" dirty="0"/>
              <a:t>B-127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6072A9-6CDE-C40B-BF8B-2218C3ACCA19}"/>
              </a:ext>
            </a:extLst>
          </p:cNvPr>
          <p:cNvSpPr txBox="1"/>
          <p:nvPr/>
        </p:nvSpPr>
        <p:spPr>
          <a:xfrm>
            <a:off x="3048000" y="-16085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03B011-4D35-82CA-BD12-E5B513BF01C4}"/>
              </a:ext>
            </a:extLst>
          </p:cNvPr>
          <p:cNvSpPr txBox="1"/>
          <p:nvPr/>
        </p:nvSpPr>
        <p:spPr>
          <a:xfrm>
            <a:off x="-1" y="-5626592"/>
            <a:ext cx="13509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D137E8-4FE7-42D8-12DD-E9F7663B8A48}"/>
              </a:ext>
            </a:extLst>
          </p:cNvPr>
          <p:cNvSpPr txBox="1"/>
          <p:nvPr/>
        </p:nvSpPr>
        <p:spPr>
          <a:xfrm>
            <a:off x="329773" y="870857"/>
            <a:ext cx="594039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1. Technical Feasibility</a:t>
            </a:r>
          </a:p>
          <a:p>
            <a:r>
              <a:rPr lang="en-IN" dirty="0"/>
              <a:t>AI-powered web application</a:t>
            </a:r>
          </a:p>
          <a:p>
            <a:r>
              <a:rPr lang="en-IN" dirty="0"/>
              <a:t>Computer Vision &amp; ML</a:t>
            </a:r>
          </a:p>
          <a:p>
            <a:r>
              <a:rPr lang="en-IN" dirty="0"/>
              <a:t>Cloud database</a:t>
            </a:r>
          </a:p>
          <a:p>
            <a:r>
              <a:rPr lang="en-IN" dirty="0"/>
              <a:t>Integration</a:t>
            </a:r>
          </a:p>
          <a:p>
            <a:endParaRPr lang="en-IN" dirty="0"/>
          </a:p>
          <a:p>
            <a:r>
              <a:rPr lang="en-IN" dirty="0"/>
              <a:t>2. Operational Feasibility</a:t>
            </a:r>
          </a:p>
          <a:p>
            <a:r>
              <a:rPr lang="en-IN" dirty="0"/>
              <a:t>Multilingual interface</a:t>
            </a:r>
          </a:p>
          <a:p>
            <a:r>
              <a:rPr lang="en-IN" dirty="0"/>
              <a:t>Offline data entry</a:t>
            </a:r>
          </a:p>
          <a:p>
            <a:r>
              <a:rPr lang="en-IN" dirty="0"/>
              <a:t>Simple farmer-friendly design</a:t>
            </a:r>
          </a:p>
          <a:p>
            <a:endParaRPr lang="en-IN" dirty="0"/>
          </a:p>
          <a:p>
            <a:r>
              <a:rPr lang="en-IN" dirty="0"/>
              <a:t>3. Financial Feasibility</a:t>
            </a:r>
          </a:p>
          <a:p>
            <a:r>
              <a:rPr lang="en-IN" dirty="0"/>
              <a:t>Low-cost software solution</a:t>
            </a:r>
          </a:p>
          <a:p>
            <a:r>
              <a:rPr lang="en-IN" dirty="0"/>
              <a:t>No NIR or IoT hardware</a:t>
            </a:r>
          </a:p>
          <a:p>
            <a:r>
              <a:rPr lang="en-IN" dirty="0"/>
              <a:t>Scalable cloud deployment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2D14E2-140E-B36A-0F49-1F678A9F749A}"/>
              </a:ext>
            </a:extLst>
          </p:cNvPr>
          <p:cNvSpPr txBox="1"/>
          <p:nvPr/>
        </p:nvSpPr>
        <p:spPr>
          <a:xfrm>
            <a:off x="3299972" y="1091190"/>
            <a:ext cx="67981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Strategies for Overcoming Challenge</a:t>
            </a:r>
          </a:p>
          <a:p>
            <a:endParaRPr lang="en-IN" dirty="0"/>
          </a:p>
          <a:p>
            <a:r>
              <a:rPr lang="en-IN" dirty="0"/>
              <a:t>1.Display confidence scores and limitations.</a:t>
            </a:r>
          </a:p>
          <a:p>
            <a:r>
              <a:rPr lang="en-IN" dirty="0"/>
              <a:t>Recommend laboratory verification for critical</a:t>
            </a:r>
          </a:p>
          <a:p>
            <a:r>
              <a:rPr lang="en-IN" dirty="0"/>
              <a:t> results.</a:t>
            </a:r>
          </a:p>
          <a:p>
            <a:endParaRPr lang="en-IN" dirty="0"/>
          </a:p>
          <a:p>
            <a:r>
              <a:rPr lang="en-IN" dirty="0"/>
              <a:t>2.Enable offline data entry.</a:t>
            </a:r>
          </a:p>
          <a:p>
            <a:r>
              <a:rPr lang="en-IN" dirty="0"/>
              <a:t>Use lightweight AI models.</a:t>
            </a:r>
          </a:p>
          <a:p>
            <a:r>
              <a:rPr lang="en-IN" dirty="0"/>
              <a:t>Expand datasets with validated samples.</a:t>
            </a:r>
          </a:p>
          <a:p>
            <a:endParaRPr lang="en-IN" dirty="0"/>
          </a:p>
          <a:p>
            <a:r>
              <a:rPr lang="en-IN" dirty="0"/>
              <a:t>3.Implement secure authentication.</a:t>
            </a:r>
          </a:p>
          <a:p>
            <a:r>
              <a:rPr lang="en-IN" dirty="0"/>
              <a:t>Use database backups.</a:t>
            </a:r>
          </a:p>
          <a:p>
            <a:r>
              <a:rPr lang="en-IN" dirty="0"/>
              <a:t>Monitor system performance.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34F9AB-3933-2BE7-D506-10CFE49A03D4}"/>
              </a:ext>
            </a:extLst>
          </p:cNvPr>
          <p:cNvSpPr txBox="1"/>
          <p:nvPr/>
        </p:nvSpPr>
        <p:spPr>
          <a:xfrm>
            <a:off x="8278105" y="1240971"/>
            <a:ext cx="375183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Challenges and Risks</a:t>
            </a:r>
          </a:p>
          <a:p>
            <a:r>
              <a:rPr lang="en-IN" dirty="0"/>
              <a:t>1. Data Accuracy</a:t>
            </a:r>
          </a:p>
          <a:p>
            <a:r>
              <a:rPr lang="en-IN" dirty="0"/>
              <a:t>Challenge: Limited image-based prediction accuracy.</a:t>
            </a:r>
          </a:p>
          <a:p>
            <a:r>
              <a:rPr lang="en-IN" dirty="0"/>
              <a:t>Risk: Incorrect quality results may mislead farmers.</a:t>
            </a:r>
          </a:p>
          <a:p>
            <a:endParaRPr lang="en-IN" dirty="0"/>
          </a:p>
          <a:p>
            <a:r>
              <a:rPr lang="en-IN" dirty="0"/>
              <a:t>2. Internet &amp; Dataset Limitations</a:t>
            </a:r>
          </a:p>
          <a:p>
            <a:r>
              <a:rPr lang="en-IN" dirty="0"/>
              <a:t>Challenge: Poor connectivity and limited training data.</a:t>
            </a:r>
          </a:p>
          <a:p>
            <a:r>
              <a:rPr lang="en-IN" dirty="0"/>
              <a:t>Risk: Unreliable predictions and interrupted services.</a:t>
            </a:r>
          </a:p>
          <a:p>
            <a:endParaRPr lang="en-IN" dirty="0"/>
          </a:p>
          <a:p>
            <a:r>
              <a:rPr lang="en-IN" dirty="0"/>
              <a:t>3. System Reliability</a:t>
            </a:r>
          </a:p>
          <a:p>
            <a:r>
              <a:rPr lang="en-IN" dirty="0"/>
              <a:t>Challenge: Server failures and data security.</a:t>
            </a:r>
          </a:p>
          <a:p>
            <a:r>
              <a:rPr lang="en-IN" dirty="0"/>
              <a:t>Risk: Data loss and service interruptions.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                                                           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Team </a:t>
            </a:r>
          </a:p>
          <a:p>
            <a:pPr algn="ctr"/>
            <a:r>
              <a:rPr lang="en-US" dirty="0"/>
              <a:t>B-127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255982-4ADA-65E5-2ACF-9F565AB5D554}"/>
              </a:ext>
            </a:extLst>
          </p:cNvPr>
          <p:cNvSpPr txBox="1"/>
          <p:nvPr/>
        </p:nvSpPr>
        <p:spPr>
          <a:xfrm>
            <a:off x="6177203" y="1305341"/>
            <a:ext cx="115879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Impacts:</a:t>
            </a:r>
          </a:p>
          <a:p>
            <a:r>
              <a:rPr lang="en-US" dirty="0"/>
              <a:t>1. Social Impact:</a:t>
            </a:r>
          </a:p>
          <a:p>
            <a:r>
              <a:rPr lang="en-US" dirty="0"/>
              <a:t>Better access to medicines, improving public health.</a:t>
            </a:r>
          </a:p>
          <a:p>
            <a:r>
              <a:rPr lang="en-US" dirty="0"/>
              <a:t>2. Environmental Impact:</a:t>
            </a:r>
          </a:p>
          <a:p>
            <a:r>
              <a:rPr lang="en-US" dirty="0"/>
              <a:t>Reduces pharmaceutical waste and lowers carbon emissions </a:t>
            </a:r>
          </a:p>
          <a:p>
            <a:r>
              <a:rPr lang="en-US" dirty="0"/>
              <a:t>due to optimized transportation and procurement.</a:t>
            </a:r>
          </a:p>
          <a:p>
            <a:r>
              <a:rPr lang="en-US" dirty="0"/>
              <a:t>3. Economic Impact:</a:t>
            </a:r>
          </a:p>
          <a:p>
            <a:r>
              <a:rPr lang="en-US" dirty="0"/>
              <a:t>Lowers healthcare costs for patients and increases competition</a:t>
            </a:r>
          </a:p>
          <a:p>
            <a:r>
              <a:rPr lang="en-US" dirty="0"/>
              <a:t> among vendors, leading to more affordable drug prices.</a:t>
            </a:r>
          </a:p>
          <a:p>
            <a:r>
              <a:rPr lang="en-US" dirty="0"/>
              <a:t>4. Governance and Policy Impact:</a:t>
            </a:r>
          </a:p>
          <a:p>
            <a:r>
              <a:rPr lang="en-US" dirty="0"/>
              <a:t>Provides governments with data to make informed</a:t>
            </a:r>
          </a:p>
          <a:p>
            <a:r>
              <a:rPr lang="en-US" dirty="0"/>
              <a:t> decisions on healthcare policy and resource allocation.</a:t>
            </a:r>
          </a:p>
          <a:p>
            <a:r>
              <a:rPr lang="en-US" dirty="0"/>
              <a:t>5. Job Creation and Innovation:</a:t>
            </a:r>
          </a:p>
          <a:p>
            <a:r>
              <a:rPr lang="en-US" dirty="0"/>
              <a:t>Creates jobs in IT, supply chain management, and logistics, </a:t>
            </a:r>
          </a:p>
          <a:p>
            <a:r>
              <a:rPr lang="en-US" dirty="0"/>
              <a:t>and fosters innovation in pharmaceutical distribution.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4B2314-1728-253A-6D89-244E8D07324E}"/>
              </a:ext>
            </a:extLst>
          </p:cNvPr>
          <p:cNvSpPr txBox="1"/>
          <p:nvPr/>
        </p:nvSpPr>
        <p:spPr>
          <a:xfrm>
            <a:off x="468351" y="252246"/>
            <a:ext cx="952654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Benefits:</a:t>
            </a:r>
          </a:p>
          <a:p>
            <a:endParaRPr lang="en-IN" dirty="0"/>
          </a:p>
          <a:p>
            <a:r>
              <a:rPr lang="en-IN" dirty="0"/>
              <a:t>1. Improved Drug Availability:</a:t>
            </a:r>
          </a:p>
          <a:p>
            <a:r>
              <a:rPr lang="en-IN" dirty="0"/>
              <a:t>Ensures essential medicines are always available,</a:t>
            </a:r>
          </a:p>
          <a:p>
            <a:r>
              <a:rPr lang="en-IN" dirty="0"/>
              <a:t> reducing shortages.</a:t>
            </a:r>
          </a:p>
          <a:p>
            <a:r>
              <a:rPr lang="en-IN" dirty="0"/>
              <a:t>2. Cost Reduction:</a:t>
            </a:r>
          </a:p>
          <a:p>
            <a:r>
              <a:rPr lang="en-IN" dirty="0"/>
              <a:t>Optimizes procurement and reduces wastage, </a:t>
            </a:r>
          </a:p>
          <a:p>
            <a:r>
              <a:rPr lang="en-IN" dirty="0"/>
              <a:t>leading to cost savings for hospitals and institutions.</a:t>
            </a:r>
          </a:p>
          <a:p>
            <a:r>
              <a:rPr lang="en-IN" dirty="0"/>
              <a:t>3. Real-Time Monitoring:</a:t>
            </a:r>
          </a:p>
          <a:p>
            <a:r>
              <a:rPr lang="en-IN" dirty="0"/>
              <a:t>Enables real-time tracking of inventory,</a:t>
            </a:r>
          </a:p>
          <a:p>
            <a:r>
              <a:rPr lang="en-IN" dirty="0"/>
              <a:t> shipments, and consumption patterns through a dashboard.</a:t>
            </a:r>
          </a:p>
          <a:p>
            <a:r>
              <a:rPr lang="en-IN" dirty="0"/>
              <a:t>4. Vendor Accountability:</a:t>
            </a:r>
          </a:p>
          <a:p>
            <a:r>
              <a:rPr lang="en-IN" dirty="0"/>
              <a:t>Improves vendor performance by tracking their</a:t>
            </a:r>
          </a:p>
          <a:p>
            <a:r>
              <a:rPr lang="en-IN" dirty="0"/>
              <a:t> activities and ensuring timely deliveries.</a:t>
            </a:r>
          </a:p>
          <a:p>
            <a:r>
              <a:rPr lang="en-IN" dirty="0"/>
              <a:t>5. Enhanced Decision-Making:</a:t>
            </a:r>
          </a:p>
          <a:p>
            <a:r>
              <a:rPr lang="en-IN" dirty="0"/>
              <a:t>Provides data-driven insights into drug usage, </a:t>
            </a:r>
          </a:p>
          <a:p>
            <a:r>
              <a:rPr lang="en-IN" dirty="0"/>
              <a:t>improving procurement planning.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Team </a:t>
            </a:r>
          </a:p>
          <a:p>
            <a:pPr algn="ctr"/>
            <a:r>
              <a:rPr lang="en-US" dirty="0"/>
              <a:t>B-127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C5BB73-E77B-BDBF-7F0B-B047D3E731D4}"/>
              </a:ext>
            </a:extLst>
          </p:cNvPr>
          <p:cNvSpPr txBox="1"/>
          <p:nvPr/>
        </p:nvSpPr>
        <p:spPr>
          <a:xfrm>
            <a:off x="329773" y="1356360"/>
            <a:ext cx="114583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Indian Dairy Farmers &amp; Silage Quality Study (2026) – study of 385 farmers and 100 silage samples, covering DM, pH, protein, fermentation and mycotoxins.</a:t>
            </a:r>
          </a:p>
          <a:p>
            <a:r>
              <a:rPr lang="en-IN" dirty="0"/>
              <a:t>   https://agris.fao.org/search/en/records/6a0b2a6be7cc3e7ab044dd37</a:t>
            </a:r>
          </a:p>
          <a:p>
            <a:r>
              <a:rPr lang="en-IN" dirty="0"/>
              <a:t>2. University of Minnesota – Corn Silage Quality – moisture, harvest timing, fermentation and storage.</a:t>
            </a:r>
          </a:p>
          <a:p>
            <a:r>
              <a:rPr lang="en-IN" dirty="0"/>
              <a:t>   https://blog-crop-news.extension.umn.edu/2022/01/strategic-farming-lets-talk-crops_26.html</a:t>
            </a:r>
          </a:p>
          <a:p>
            <a:r>
              <a:rPr lang="en-IN" dirty="0"/>
              <a:t>3. FAO/USDA – Silage Microbiology – fermentation, pH, mould and spoilage.</a:t>
            </a:r>
          </a:p>
          <a:p>
            <a:r>
              <a:rPr lang="en-IN" dirty="0"/>
              <a:t>   https://agris.fao.org/search/en/providers/122622/records/647254bae17b74d2224fe857</a:t>
            </a:r>
          </a:p>
          <a:p>
            <a:r>
              <a:rPr lang="en-IN" dirty="0"/>
              <a:t>4. Silage Quality &amp; Dairy Cow Health Review (2025) –</a:t>
            </a:r>
          </a:p>
          <a:p>
            <a:r>
              <a:rPr lang="en-IN" dirty="0"/>
              <a:t>5. nutrition, animal performance, pathogens and mycotoxins.</a:t>
            </a:r>
          </a:p>
          <a:p>
            <a:r>
              <a:rPr lang="en-IN" dirty="0"/>
              <a:t>   https://agris.fao.org/search/en/providers/122617/records/6878f2750868163a2f75722d</a:t>
            </a:r>
          </a:p>
          <a:p>
            <a:r>
              <a:rPr lang="en-IN" dirty="0"/>
              <a:t>6. ICAR – Scientific Silage Preparation:</a:t>
            </a:r>
          </a:p>
          <a:p>
            <a:r>
              <a:rPr lang="en-IN" dirty="0"/>
              <a:t>   https://icar.gov.in/en/icar-ccari-kvk-north-goa-organises-method-demonstration-scientific-fodder-conservation-through</a:t>
            </a:r>
          </a:p>
          <a:p>
            <a:r>
              <a:rPr lang="en-IN" dirty="0"/>
              <a:t>7. Indian Corn Silage Quality Research:</a:t>
            </a:r>
          </a:p>
          <a:p>
            <a:r>
              <a:rPr lang="en-IN" dirty="0"/>
              <a:t>   https://agris.fao.org/search/en/providers/122535/records/65df6b6c6eef00c2cea2ba33</a:t>
            </a:r>
          </a:p>
          <a:p>
            <a:r>
              <a:rPr lang="en-IN" dirty="0"/>
              <a:t>8. ICAR – Silage Quality Report:</a:t>
            </a:r>
          </a:p>
          <a:p>
            <a:r>
              <a:rPr lang="en-IN" dirty="0"/>
              <a:t>   https://www.circot.icar.gov.in/sites/default/files/Annual-Report-2022-1.pdf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SIH2026-IDEA-Presentation-Format (1) (1)</Template>
  <TotalTime>158</TotalTime>
  <Words>960</Words>
  <Application>Microsoft Office PowerPoint</Application>
  <PresentationFormat>Widescreen</PresentationFormat>
  <Paragraphs>170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Algerian</vt:lpstr>
      <vt:lpstr>Arial</vt:lpstr>
      <vt:lpstr>Calibri</vt:lpstr>
      <vt:lpstr>Garamond</vt:lpstr>
      <vt:lpstr>Lucida Sans</vt:lpstr>
      <vt:lpstr>Times New Roman</vt:lpstr>
      <vt:lpstr>TradeGothic</vt:lpstr>
      <vt:lpstr>Office Theme</vt:lpstr>
      <vt:lpstr>SMART INDIA HACKATHON 2026</vt:lpstr>
      <vt:lpstr> IDEA TITLE </vt:lpstr>
      <vt:lpstr>TECHNICAL APPROACH</vt:lpstr>
      <vt:lpstr>FEASIBILITY AND VIABILITY</vt:lpstr>
      <vt:lpstr>IMPACT AND BENEFITS</vt:lpstr>
      <vt:lpstr>RESEARCH  AND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vijaya lakshmi</dc:creator>
  <cp:keywords/>
  <dc:description/>
  <cp:lastModifiedBy>vijaya lakshmi</cp:lastModifiedBy>
  <cp:revision>1</cp:revision>
  <dcterms:created xsi:type="dcterms:W3CDTF">2026-09-20T16:13:05Z</dcterms:created>
  <dcterms:modified xsi:type="dcterms:W3CDTF">2026-09-20T18:51:16Z</dcterms:modified>
  <cp:category/>
</cp:coreProperties>
</file>